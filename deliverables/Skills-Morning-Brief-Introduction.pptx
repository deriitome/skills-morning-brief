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6EAC9-7ADF-4535-AAB0-FEADE2A0759E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B602F-BA02-4907-8FBA-66B5612700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910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网站品牌与定位。公开内容可直接浏览，个人推荐为可选功能。</a:t>
            </a:r>
          </a:p>
          <a:p>
            <a:r>
              <a:rPr lang="zh-CN" altLang="en-US"/>
              <a:t>来源：</a:t>
            </a:r>
            <a:r>
              <a:rPr lang="en-US" altLang="zh-CN"/>
              <a:t>https://github.com/DeriitoMe/Skills-Morning-Brief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B602F-BA02-4907-8FBA-66B56127008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668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Stars </a:t>
            </a:r>
            <a:r>
              <a:rPr lang="zh-CN" altLang="en-US"/>
              <a:t>是仓库级指标。增长依赖两次真实采样，并显示实际时间窗口。保留历史成熟技能。未积累完整七天样本时不估算周增长。</a:t>
            </a:r>
          </a:p>
          <a:p>
            <a:r>
              <a:rPr lang="zh-CN" altLang="en-US"/>
              <a:t>来源：</a:t>
            </a:r>
            <a:r>
              <a:rPr lang="en-US" altLang="zh-CN"/>
              <a:t>https://github.com/DeriitoMe/Skills-Morning-Brief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B602F-BA02-4907-8FBA-66B56127008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本页介绍网站已实现的官方资讯来源范围，不陈述某一次发布事件。</a:t>
            </a:r>
            <a:r>
              <a:rPr lang="en-US" altLang="zh-CN"/>
              <a:t>OpenAI</a:t>
            </a:r>
            <a:r>
              <a:rPr lang="zh-CN" altLang="en-US"/>
              <a:t>、</a:t>
            </a:r>
            <a:r>
              <a:rPr lang="en-US" altLang="zh-CN"/>
              <a:t>Codex</a:t>
            </a:r>
            <a:r>
              <a:rPr lang="zh-CN" altLang="en-US"/>
              <a:t>、</a:t>
            </a:r>
            <a:r>
              <a:rPr lang="en-US" altLang="zh-CN"/>
              <a:t>Claude Code </a:t>
            </a:r>
            <a:r>
              <a:rPr lang="zh-CN" altLang="en-US"/>
              <a:t>与 </a:t>
            </a:r>
            <a:r>
              <a:rPr lang="en-US" altLang="zh-CN"/>
              <a:t>DeepSeek </a:t>
            </a:r>
            <a:r>
              <a:rPr lang="zh-CN" altLang="en-US"/>
              <a:t>的具体条目保留各自原文链接及日期。</a:t>
            </a:r>
          </a:p>
          <a:p>
            <a:r>
              <a:rPr lang="zh-CN" altLang="en-US"/>
              <a:t>来源：</a:t>
            </a:r>
            <a:r>
              <a:rPr lang="en-US" altLang="zh-CN"/>
              <a:t>https://github.com/DeriitoMe/Skills-Morning-Brief</a:t>
            </a:r>
          </a:p>
          <a:p>
            <a:r>
              <a:rPr lang="en-US" altLang="zh-CN"/>
              <a:t>OpenAI </a:t>
            </a:r>
            <a:r>
              <a:rPr lang="zh-CN" altLang="en-US"/>
              <a:t>官方更新说明：</a:t>
            </a:r>
            <a:r>
              <a:rPr lang="en-US" altLang="zh-CN"/>
              <a:t>https://learn.chatgpt.com/docs/changelog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B602F-BA02-4907-8FBA-66B5612700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301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本页说明 </a:t>
            </a:r>
            <a:r>
              <a:rPr lang="en-US" altLang="zh-CN"/>
              <a:t>tibo</a:t>
            </a:r>
            <a:r>
              <a:rPr lang="zh-CN" altLang="en-US"/>
              <a:t>监视记录公共公告的范围。示例原帖作者为 </a:t>
            </a:r>
            <a:r>
              <a:rPr lang="en-US" altLang="zh-CN"/>
              <a:t>Tibo @thsottiaux</a:t>
            </a:r>
            <a:r>
              <a:rPr lang="zh-CN" altLang="en-US"/>
              <a:t>，发布日期仅能确认到 </a:t>
            </a:r>
            <a:r>
              <a:rPr lang="en-US" altLang="zh-CN"/>
              <a:t>2026-10-07</a:t>
            </a:r>
            <a:r>
              <a:rPr lang="zh-CN" altLang="en-US"/>
              <a:t>。原帖经 </a:t>
            </a:r>
            <a:r>
              <a:rPr lang="en-US" altLang="zh-CN"/>
              <a:t>X </a:t>
            </a:r>
            <a:r>
              <a:rPr lang="zh-CN" altLang="en-US"/>
              <a:t>官方 </a:t>
            </a:r>
            <a:r>
              <a:rPr lang="en-US" altLang="zh-CN"/>
              <a:t>oEmbed </a:t>
            </a:r>
            <a:r>
              <a:rPr lang="zh-CN" altLang="en-US"/>
              <a:t>核验，措辞描述正在补发可储存重置。原文称付费账户，未逐项列出计划。公开数据的采集时间为 </a:t>
            </a:r>
            <a:r>
              <a:rPr lang="en-US" altLang="zh-CN"/>
              <a:t>2026-10-08 14:51 </a:t>
            </a:r>
            <a:r>
              <a:rPr lang="zh-CN" altLang="en-US"/>
              <a:t>上海时间，与额度重置发生时间分开。原帖没有给出确切重置时刻，也不能据此证明任何个人账户已经到账。完整 </a:t>
            </a:r>
            <a:r>
              <a:rPr lang="en-US" altLang="zh-CN"/>
              <a:t>X </a:t>
            </a:r>
            <a:r>
              <a:rPr lang="zh-CN" altLang="en-US"/>
              <a:t>时间线尚未启用，当前发现覆盖有限。</a:t>
            </a:r>
          </a:p>
          <a:p>
            <a:r>
              <a:rPr lang="zh-CN" altLang="en-US"/>
              <a:t>原帖：</a:t>
            </a:r>
            <a:r>
              <a:rPr lang="en-US" altLang="zh-CN"/>
              <a:t>https://x.com/thsottiaux/status/2107913674593644711</a:t>
            </a:r>
          </a:p>
          <a:p>
            <a:r>
              <a:rPr lang="zh-CN" altLang="en-US"/>
              <a:t>官方更新：</a:t>
            </a:r>
            <a:r>
              <a:rPr lang="en-US" altLang="zh-CN"/>
              <a:t>https://learn.chatgpt.com/docs/changelog</a:t>
            </a:r>
          </a:p>
          <a:p>
            <a:r>
              <a:rPr lang="zh-CN" altLang="en-US"/>
              <a:t>官方用量：</a:t>
            </a:r>
            <a:r>
              <a:rPr lang="en-US" altLang="zh-CN"/>
              <a:t>https://learn.chatgpt.com/docs/pricing</a:t>
            </a:r>
          </a:p>
          <a:p>
            <a:r>
              <a:rPr lang="zh-CN" altLang="en-US"/>
              <a:t>官方重置机制：</a:t>
            </a:r>
            <a:r>
              <a:rPr lang="en-US" altLang="zh-CN"/>
              <a:t>https://learn.chatgpt.com/docs/app-server</a:t>
            </a:r>
          </a:p>
          <a:p>
            <a:r>
              <a:rPr lang="zh-CN" altLang="en-US"/>
              <a:t>项目说明：</a:t>
            </a:r>
            <a:r>
              <a:rPr lang="en-US" altLang="zh-CN"/>
              <a:t>https://github.com/DeriitoMe/Skills-Morning-Brief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B602F-BA02-4907-8FBA-66B5612700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315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公开浏览可直接使用，按我推荐是可选流程。用户确认 </a:t>
            </a:r>
            <a:r>
              <a:rPr lang="en-US" altLang="zh-CN"/>
              <a:t>Skill </a:t>
            </a:r>
            <a:r>
              <a:rPr lang="zh-CN" altLang="en-US"/>
              <a:t>目录或导入能力清单后再按目标生成个人增量。支持 </a:t>
            </a:r>
            <a:r>
              <a:rPr lang="en-US" altLang="zh-CN"/>
              <a:t>Codex</a:t>
            </a:r>
            <a:r>
              <a:rPr lang="zh-CN" altLang="en-US"/>
              <a:t>、</a:t>
            </a:r>
            <a:r>
              <a:rPr lang="en-US" altLang="zh-CN"/>
              <a:t>Claude Code</a:t>
            </a:r>
            <a:r>
              <a:rPr lang="zh-CN" altLang="en-US"/>
              <a:t>、</a:t>
            </a:r>
            <a:r>
              <a:rPr lang="en-US" altLang="zh-CN"/>
              <a:t>Cursor</a:t>
            </a:r>
            <a:r>
              <a:rPr lang="zh-CN" altLang="en-US"/>
              <a:t>、</a:t>
            </a:r>
            <a:r>
              <a:rPr lang="en-US" altLang="zh-CN"/>
              <a:t>DeepSeek / Deep Code </a:t>
            </a:r>
            <a:r>
              <a:rPr lang="zh-CN" altLang="en-US"/>
              <a:t>目录适配，以及其他 </a:t>
            </a:r>
            <a:r>
              <a:rPr lang="en-US" altLang="zh-CN"/>
              <a:t>Agent </a:t>
            </a:r>
            <a:r>
              <a:rPr lang="zh-CN" altLang="en-US"/>
              <a:t>的自选目录或清单。扫描只确认定义存在，账号、依赖与运行能力需要另行验证。</a:t>
            </a:r>
            <a:r>
              <a:rPr lang="en-US" altLang="zh-CN"/>
              <a:t>Windows </a:t>
            </a:r>
            <a:r>
              <a:rPr lang="zh-CN" altLang="en-US"/>
              <a:t>调度脚本支持每日 </a:t>
            </a:r>
            <a:r>
              <a:rPr lang="en-US" altLang="zh-CN"/>
              <a:t>08:30 </a:t>
            </a:r>
            <a:r>
              <a:rPr lang="zh-CN" altLang="en-US"/>
              <a:t>更新公开 </a:t>
            </a:r>
            <a:r>
              <a:rPr lang="en-US" altLang="zh-CN"/>
              <a:t>Skills </a:t>
            </a:r>
            <a:r>
              <a:rPr lang="zh-CN" altLang="en-US"/>
              <a:t>和 </a:t>
            </a:r>
            <a:r>
              <a:rPr lang="en-US" altLang="zh-CN"/>
              <a:t>Agent </a:t>
            </a:r>
            <a:r>
              <a:rPr lang="zh-CN" altLang="en-US"/>
              <a:t>内容，同时核对 </a:t>
            </a:r>
            <a:r>
              <a:rPr lang="en-US" altLang="zh-CN"/>
              <a:t>tibo</a:t>
            </a:r>
            <a:r>
              <a:rPr lang="zh-CN" altLang="en-US"/>
              <a:t>。</a:t>
            </a:r>
            <a:r>
              <a:rPr lang="en-US" altLang="zh-CN"/>
              <a:t>20:30 </a:t>
            </a:r>
            <a:r>
              <a:rPr lang="zh-CN" altLang="en-US"/>
              <a:t>任务仅核对 </a:t>
            </a:r>
            <a:r>
              <a:rPr lang="en-US" altLang="zh-CN"/>
              <a:t>tibo</a:t>
            </a:r>
            <a:r>
              <a:rPr lang="zh-CN" altLang="en-US"/>
              <a:t>。需用户配置任务，并保持本机开启、用户登录及上海时区。此页不声称任务已安装到某台机器。更新显示在本机网页。</a:t>
            </a:r>
          </a:p>
          <a:p>
            <a:r>
              <a:rPr lang="zh-CN" altLang="en-US"/>
              <a:t>来源：</a:t>
            </a:r>
            <a:r>
              <a:rPr lang="en-US" altLang="zh-CN"/>
              <a:t>https://github.com/DeriitoMe/Skills-Morning-Brief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B602F-BA02-4907-8FBA-66B56127008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80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已存在的公开项目与 </a:t>
            </a:r>
            <a:r>
              <a:rPr lang="en-US" altLang="zh-CN"/>
              <a:t>Releases </a:t>
            </a:r>
            <a:r>
              <a:rPr lang="zh-CN" altLang="en-US"/>
              <a:t>入口。下载后按 </a:t>
            </a:r>
            <a:r>
              <a:rPr lang="en-US" altLang="zh-CN"/>
              <a:t>README </a:t>
            </a:r>
            <a:r>
              <a:rPr lang="zh-CN" altLang="en-US"/>
              <a:t>的启动方式在本机运行。</a:t>
            </a:r>
          </a:p>
          <a:p>
            <a:r>
              <a:rPr lang="zh-CN" altLang="en-US"/>
              <a:t>项目：</a:t>
            </a:r>
            <a:r>
              <a:rPr lang="en-US" altLang="zh-CN"/>
              <a:t>https://github.com/DeriitoMe/Skills-Morning-Brief</a:t>
            </a:r>
          </a:p>
          <a:p>
            <a:r>
              <a:rPr lang="zh-CN" altLang="en-US"/>
              <a:t>下载：</a:t>
            </a:r>
            <a:r>
              <a:rPr lang="en-US" altLang="zh-CN"/>
              <a:t>https://github.com/DeriitoMe/Skills-Morning-Brief/releases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B602F-BA02-4907-8FBA-66B5612700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66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137E9-DF21-AD81-BA69-C44AC85D9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B4CC51-ECB2-9E85-4E13-E6B600131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862711-57A2-D70A-EBBA-9CC9E19F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BD49D6-A248-9C24-0505-180654CE0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0BDAF-F592-E8DC-F55B-B4B9EF11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20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4A040-E684-AEAA-6215-A0F2BE4C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40FDC6-9E87-5A41-5870-823C1DF16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0F3916-D8B5-BDE6-35FB-17EF874C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FB025-0EB2-435A-9CF0-27D6C884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36B5F-A0F2-8421-1F04-BADCA90E3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617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F8525-3944-9335-1D14-041F4591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5EB45B-BAFF-8528-F73C-1C9A3F9D2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DF768-F5B3-F8A0-1CE8-25B2B86B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3A9E05-950E-F6EE-6842-69367A93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822B5-7146-5B0D-B306-8F3EF4D2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70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BFD40-5D32-A420-B744-34272BB8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786837-9CBF-E110-C8AF-EF7ED318B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BB1F19-57BB-436C-6E7C-7B70A9490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2BF4DD-38A5-84AF-E589-E60D2F563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FB9B3C-FE0B-7D82-D442-F0523959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ADD233-ABC2-29C2-AFBE-5A9AC8FB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90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9847C-632D-DE40-AA6E-EF599E887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EB0D21-899E-FFCF-9308-28035653C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3E61AC-8482-8432-0548-64BE6B2C8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5E1FF7-A039-3BC0-EB27-FF0937BB2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DEA398-9D15-7A5F-E2E2-4E5E3FCD1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0EEEBE0-B446-EEB4-52DA-1EF73A788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64C8BF-071A-8401-5800-347B575B1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3E5662-8C77-4349-1093-45B833D1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71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124F6-3E66-AA83-94DA-AD94C396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510F17-E47E-C6B7-7859-EBF3FAC6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F0CE24-2680-40B2-C6B7-574803C66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485930-9A47-D9F8-D21B-91904DA7D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534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197A6F-5DE0-99EF-8902-CFDE0240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9957A7-4BBF-413B-8E39-E0905B2A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92D72B-F9E2-108B-7119-0E7E7617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38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86AC5-E9C4-459E-1472-15558D68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604383-16B9-B4D8-8EAB-8BC6F372B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89E359-5CAD-4F96-5E3C-D09131281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4D354-ABCB-1E05-551E-88B42FFB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0F96C6-1151-DC21-78E8-DF9260A7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B06F09-D4C7-FEFE-F67C-8794AA33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39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29C5F-0EC0-393E-9764-D7A89A94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9F02EB-D2A1-0EB5-0188-B5C74BE2C0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006EC5-0B94-91C5-81D0-38D1C2AB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D9C854-7A12-FBCE-A68F-BFC4FC9EC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2AEBAE-A6D3-F2DF-B44C-F8EF71ED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9205F0-AF46-A0FE-2213-63454D48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14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2D5EC-BD0D-0C1D-F75C-B73825AF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A230EB-0742-F2D4-0E91-AFB44252C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F8C9A8-2883-E662-6ACB-D2B39F98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0549DE-D792-AC81-45A1-4FF20C78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28A2F0-A955-98F7-12F0-16A64C1F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24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35288E-75BA-2141-D58C-823D06432F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3DBE54-5B4C-4E53-6087-ED0B235E0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CAED61-A397-CF8E-903E-8AD48A3A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3AA06B-0F5B-349D-1693-7586C1B1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5EBD43-D9B8-A84D-BE5B-82225686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70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0B1817-D394-D68F-D663-C00EFE67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F20594-F726-A56B-50C7-6D56B5579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743B2-94E7-AEAC-C9FA-A7413A95C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2D78C-E409-4CB1-8234-B9636E6BFE6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592796-3886-5E8D-779C-0A86F64A3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72C287-95C0-6DD3-1A93-B40D669FF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8ECCF-2B29-423E-BCA5-613C6F782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696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DeriitoMe/Skills-Morning-Brief/releases" TargetMode="External"/><Relationship Id="rId4" Type="http://schemas.openxmlformats.org/officeDocument/2006/relationships/hyperlink" Target="https://github.com/DeriitoMe/Skills-Morning-Brie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kills Morning Brief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arm paper background" descr="暖白色纸纹背景">
            <a:extLst>
              <a:ext uri="{FF2B5EF4-FFF2-40B4-BE49-F238E27FC236}">
                <a16:creationId xmlns:a16="http://schemas.microsoft.com/office/drawing/2014/main" id="{91B17B3F-89F1-DC88-73D3-1D1940CAF0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age number" descr="Page number">
            <a:extLst>
              <a:ext uri="{FF2B5EF4-FFF2-40B4-BE49-F238E27FC236}">
                <a16:creationId xmlns:a16="http://schemas.microsoft.com/office/drawing/2014/main" id="{2ADAFCB4-FD3A-240C-7567-B105D364D76C}"/>
              </a:ext>
            </a:extLst>
          </p:cNvPr>
          <p:cNvSpPr txBox="1"/>
          <p:nvPr/>
        </p:nvSpPr>
        <p:spPr>
          <a:xfrm>
            <a:off x="10985500" y="495299"/>
            <a:ext cx="444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01</a:t>
            </a:r>
            <a:endParaRPr lang="zh-CN" altLang="en-US" sz="2000">
              <a:solidFill>
                <a:srgbClr val="666158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Category" descr="Category">
            <a:extLst>
              <a:ext uri="{FF2B5EF4-FFF2-40B4-BE49-F238E27FC236}">
                <a16:creationId xmlns:a16="http://schemas.microsoft.com/office/drawing/2014/main" id="{5D83C5BF-6FBA-23DD-9B72-FD801D539DE6}"/>
              </a:ext>
            </a:extLst>
          </p:cNvPr>
          <p:cNvSpPr txBox="1"/>
          <p:nvPr/>
        </p:nvSpPr>
        <p:spPr>
          <a:xfrm>
            <a:off x="838200" y="711199"/>
            <a:ext cx="9017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2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Skills </a:t>
            </a:r>
            <a:r>
              <a:rPr lang="zh-CN" altLang="en-US" sz="22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 </a:t>
            </a:r>
            <a:r>
              <a:rPr lang="en-US" altLang="zh-CN" sz="22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22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资讯</a:t>
            </a:r>
          </a:p>
        </p:txBody>
      </p:sp>
      <p:sp>
        <p:nvSpPr>
          <p:cNvPr id="6" name="Brand" descr="Brand">
            <a:extLst>
              <a:ext uri="{FF2B5EF4-FFF2-40B4-BE49-F238E27FC236}">
                <a16:creationId xmlns:a16="http://schemas.microsoft.com/office/drawing/2014/main" id="{DC7D67A0-4FF4-120F-262D-57EB677820B8}"/>
              </a:ext>
            </a:extLst>
          </p:cNvPr>
          <p:cNvSpPr txBox="1"/>
          <p:nvPr/>
        </p:nvSpPr>
        <p:spPr>
          <a:xfrm>
            <a:off x="812800" y="1574799"/>
            <a:ext cx="10617200" cy="243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6600" b="1">
                <a:solidFill>
                  <a:srgbClr val="22211D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Skills Morning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6600" b="1">
                <a:solidFill>
                  <a:srgbClr val="22211D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Brief</a:t>
            </a:r>
            <a:endParaRPr lang="zh-CN" altLang="en-US" sz="6600" b="1">
              <a:solidFill>
                <a:srgbClr val="22211D"/>
              </a:solidFill>
              <a:latin typeface="Arial" panose="020B060402020202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7" name="Chinese positioning" descr="Chinese positioning">
            <a:extLst>
              <a:ext uri="{FF2B5EF4-FFF2-40B4-BE49-F238E27FC236}">
                <a16:creationId xmlns:a16="http://schemas.microsoft.com/office/drawing/2014/main" id="{1353C042-438B-78DB-4ED1-69D6914F4F8D}"/>
              </a:ext>
            </a:extLst>
          </p:cNvPr>
          <p:cNvSpPr txBox="1"/>
          <p:nvPr/>
        </p:nvSpPr>
        <p:spPr>
          <a:xfrm>
            <a:off x="838200" y="4292599"/>
            <a:ext cx="10541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30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每天发现值得关注的能力与变化</a:t>
            </a:r>
          </a:p>
        </p:txBody>
      </p:sp>
      <p:sp>
        <p:nvSpPr>
          <p:cNvPr id="8" name="Description" descr="Description">
            <a:extLst>
              <a:ext uri="{FF2B5EF4-FFF2-40B4-BE49-F238E27FC236}">
                <a16:creationId xmlns:a16="http://schemas.microsoft.com/office/drawing/2014/main" id="{1BD2653E-0FB7-BBCC-E7B8-C8145F7E7D47}"/>
              </a:ext>
            </a:extLst>
          </p:cNvPr>
          <p:cNvSpPr txBox="1"/>
          <p:nvPr/>
        </p:nvSpPr>
        <p:spPr>
          <a:xfrm>
            <a:off x="838200" y="5219699"/>
            <a:ext cx="10541000" cy="99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3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GitHub </a:t>
            </a:r>
            <a:r>
              <a:rPr lang="zh-CN" altLang="en-US" sz="23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热门 </a:t>
            </a:r>
            <a:r>
              <a:rPr lang="en-US" altLang="zh-CN" sz="23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Skills</a:t>
            </a:r>
            <a:r>
              <a:rPr lang="zh-CN" altLang="en-US" sz="23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、真实增长与官方动态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3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打开即可浏览，个人推荐可选</a:t>
            </a:r>
          </a:p>
        </p:txBody>
      </p:sp>
    </p:spTree>
    <p:extLst>
      <p:ext uri="{BB962C8B-B14F-4D97-AF65-F5344CB8AC3E}">
        <p14:creationId xmlns:p14="http://schemas.microsoft.com/office/powerpoint/2010/main" val="190773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kills Morning Brief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arm paper background" descr="暖白色纸纹背景">
            <a:extLst>
              <a:ext uri="{FF2B5EF4-FFF2-40B4-BE49-F238E27FC236}">
                <a16:creationId xmlns:a16="http://schemas.microsoft.com/office/drawing/2014/main" id="{A1B5B9C2-294E-DD6A-5179-5691B04013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age number" descr="Page number">
            <a:extLst>
              <a:ext uri="{FF2B5EF4-FFF2-40B4-BE49-F238E27FC236}">
                <a16:creationId xmlns:a16="http://schemas.microsoft.com/office/drawing/2014/main" id="{DB230A5D-D492-02DD-25EC-174976210F06}"/>
              </a:ext>
            </a:extLst>
          </p:cNvPr>
          <p:cNvSpPr txBox="1"/>
          <p:nvPr/>
        </p:nvSpPr>
        <p:spPr>
          <a:xfrm>
            <a:off x="10985500" y="495299"/>
            <a:ext cx="444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02</a:t>
            </a:r>
            <a:endParaRPr lang="zh-CN" altLang="en-US" sz="2000">
              <a:solidFill>
                <a:srgbClr val="666158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itle" descr="Title">
            <a:extLst>
              <a:ext uri="{FF2B5EF4-FFF2-40B4-BE49-F238E27FC236}">
                <a16:creationId xmlns:a16="http://schemas.microsoft.com/office/drawing/2014/main" id="{9306BED2-6C92-415F-1CC2-95C41C5E3D14}"/>
              </a:ext>
            </a:extLst>
          </p:cNvPr>
          <p:cNvSpPr txBox="1"/>
          <p:nvPr/>
        </p:nvSpPr>
        <p:spPr>
          <a:xfrm>
            <a:off x="812800" y="850899"/>
            <a:ext cx="10287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32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热门 </a:t>
            </a:r>
            <a:r>
              <a:rPr lang="en-US" altLang="zh-CN" sz="32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Skills </a:t>
            </a:r>
            <a:r>
              <a:rPr lang="zh-CN" altLang="en-US" sz="32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与近期增长</a:t>
            </a:r>
          </a:p>
        </p:txBody>
      </p:sp>
      <p:sp>
        <p:nvSpPr>
          <p:cNvPr id="6" name="Lead" descr="Lead">
            <a:extLst>
              <a:ext uri="{FF2B5EF4-FFF2-40B4-BE49-F238E27FC236}">
                <a16:creationId xmlns:a16="http://schemas.microsoft.com/office/drawing/2014/main" id="{BB5AD623-87DD-7B17-D5E2-54F4235D1FAB}"/>
              </a:ext>
            </a:extLst>
          </p:cNvPr>
          <p:cNvSpPr txBox="1"/>
          <p:nvPr/>
        </p:nvSpPr>
        <p:spPr>
          <a:xfrm>
            <a:off x="812800" y="1777999"/>
            <a:ext cx="105664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3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保留历史成熟技能，也关注新出现的项目。</a:t>
            </a:r>
          </a:p>
        </p:txBody>
      </p:sp>
      <p:sp>
        <p:nvSpPr>
          <p:cNvPr id="7" name="Popular heading" descr="Popular heading">
            <a:extLst>
              <a:ext uri="{FF2B5EF4-FFF2-40B4-BE49-F238E27FC236}">
                <a16:creationId xmlns:a16="http://schemas.microsoft.com/office/drawing/2014/main" id="{38F824E2-6577-A3CE-3E23-5E572026F99D}"/>
              </a:ext>
            </a:extLst>
          </p:cNvPr>
          <p:cNvSpPr txBox="1"/>
          <p:nvPr/>
        </p:nvSpPr>
        <p:spPr>
          <a:xfrm>
            <a:off x="812800" y="2806699"/>
            <a:ext cx="51435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9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热门 </a:t>
            </a:r>
            <a:r>
              <a:rPr lang="en-US" altLang="zh-CN" sz="29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Skills</a:t>
            </a:r>
            <a:endParaRPr lang="zh-CN" altLang="en-US" sz="2900" b="1">
              <a:solidFill>
                <a:srgbClr val="B13F2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Popular details" descr="Popular details">
            <a:extLst>
              <a:ext uri="{FF2B5EF4-FFF2-40B4-BE49-F238E27FC236}">
                <a16:creationId xmlns:a16="http://schemas.microsoft.com/office/drawing/2014/main" id="{7F302E98-884B-8C43-7416-5A5FBF814C17}"/>
              </a:ext>
            </a:extLst>
          </p:cNvPr>
          <p:cNvSpPr txBox="1"/>
          <p:nvPr/>
        </p:nvSpPr>
        <p:spPr>
          <a:xfrm>
            <a:off x="812800" y="3594099"/>
            <a:ext cx="5181600" cy="190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按仓库级 </a:t>
            </a:r>
            <a:r>
              <a:rPr lang="en-US" altLang="zh-CN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Stars </a:t>
            </a: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查看热度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收录持续有用的成熟技能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追溯仓库与 </a:t>
            </a:r>
            <a:r>
              <a:rPr lang="en-US" altLang="zh-CN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 </a:t>
            </a: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定义</a:t>
            </a:r>
          </a:p>
        </p:txBody>
      </p:sp>
      <p:sp>
        <p:nvSpPr>
          <p:cNvPr id="9" name="Growth heading" descr="Growth heading">
            <a:extLst>
              <a:ext uri="{FF2B5EF4-FFF2-40B4-BE49-F238E27FC236}">
                <a16:creationId xmlns:a16="http://schemas.microsoft.com/office/drawing/2014/main" id="{0D20D60D-A735-D44A-1580-280053D412D1}"/>
              </a:ext>
            </a:extLst>
          </p:cNvPr>
          <p:cNvSpPr txBox="1"/>
          <p:nvPr/>
        </p:nvSpPr>
        <p:spPr>
          <a:xfrm>
            <a:off x="6667500" y="2806699"/>
            <a:ext cx="47117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9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近期增长</a:t>
            </a:r>
          </a:p>
        </p:txBody>
      </p:sp>
      <p:sp>
        <p:nvSpPr>
          <p:cNvPr id="10" name="Growth details" descr="Growth details">
            <a:extLst>
              <a:ext uri="{FF2B5EF4-FFF2-40B4-BE49-F238E27FC236}">
                <a16:creationId xmlns:a16="http://schemas.microsoft.com/office/drawing/2014/main" id="{5248AFE8-F2A2-1556-1F6D-6B6BA8BB9666}"/>
              </a:ext>
            </a:extLst>
          </p:cNvPr>
          <p:cNvSpPr txBox="1"/>
          <p:nvPr/>
        </p:nvSpPr>
        <p:spPr>
          <a:xfrm>
            <a:off x="6667500" y="3594099"/>
            <a:ext cx="4711700" cy="190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比较两次真实采样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显示实际采样时间窗口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不足 </a:t>
            </a:r>
            <a:r>
              <a:rPr lang="en-US" altLang="zh-CN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 </a:t>
            </a: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天，不估算周增幅</a:t>
            </a:r>
          </a:p>
        </p:txBody>
      </p:sp>
      <p:sp>
        <p:nvSpPr>
          <p:cNvPr id="11" name="Stars qualification" descr="Stars qualification">
            <a:extLst>
              <a:ext uri="{FF2B5EF4-FFF2-40B4-BE49-F238E27FC236}">
                <a16:creationId xmlns:a16="http://schemas.microsoft.com/office/drawing/2014/main" id="{1DCE962B-8CFB-2747-4EE5-B42FFC702182}"/>
              </a:ext>
            </a:extLst>
          </p:cNvPr>
          <p:cNvSpPr txBox="1"/>
          <p:nvPr/>
        </p:nvSpPr>
        <p:spPr>
          <a:xfrm>
            <a:off x="812800" y="5943599"/>
            <a:ext cx="10566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Stars </a:t>
            </a:r>
            <a:r>
              <a:rPr lang="zh-CN" altLang="en-US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属于整个仓库，不能直接代表某个 </a:t>
            </a:r>
            <a:r>
              <a:rPr lang="en-US" altLang="zh-CN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 </a:t>
            </a:r>
            <a:r>
              <a:rPr lang="zh-CN" altLang="en-US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的质量。</a:t>
            </a:r>
          </a:p>
        </p:txBody>
      </p:sp>
    </p:spTree>
    <p:extLst>
      <p:ext uri="{BB962C8B-B14F-4D97-AF65-F5344CB8AC3E}">
        <p14:creationId xmlns:p14="http://schemas.microsoft.com/office/powerpoint/2010/main" val="226850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kills Morning Brief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arm paper background" descr="暖白色纸纹背景">
            <a:extLst>
              <a:ext uri="{FF2B5EF4-FFF2-40B4-BE49-F238E27FC236}">
                <a16:creationId xmlns:a16="http://schemas.microsoft.com/office/drawing/2014/main" id="{F12664EA-464B-8754-5FBB-F9C650B0B8A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age number" descr="Page number">
            <a:extLst>
              <a:ext uri="{FF2B5EF4-FFF2-40B4-BE49-F238E27FC236}">
                <a16:creationId xmlns:a16="http://schemas.microsoft.com/office/drawing/2014/main" id="{F80D50CC-CB49-C3C4-FFA8-B8F5009CE673}"/>
              </a:ext>
            </a:extLst>
          </p:cNvPr>
          <p:cNvSpPr txBox="1"/>
          <p:nvPr/>
        </p:nvSpPr>
        <p:spPr>
          <a:xfrm>
            <a:off x="10985500" y="495299"/>
            <a:ext cx="444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03</a:t>
            </a:r>
            <a:endParaRPr lang="zh-CN" altLang="en-US" sz="2000">
              <a:solidFill>
                <a:srgbClr val="666158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itle" descr="Title">
            <a:extLst>
              <a:ext uri="{FF2B5EF4-FFF2-40B4-BE49-F238E27FC236}">
                <a16:creationId xmlns:a16="http://schemas.microsoft.com/office/drawing/2014/main" id="{9528B6E2-C82F-716F-73EA-09EF8A576E20}"/>
              </a:ext>
            </a:extLst>
          </p:cNvPr>
          <p:cNvSpPr txBox="1"/>
          <p:nvPr/>
        </p:nvSpPr>
        <p:spPr>
          <a:xfrm>
            <a:off x="812800" y="850899"/>
            <a:ext cx="10287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32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/ Agent </a:t>
            </a:r>
            <a:r>
              <a:rPr lang="zh-CN" altLang="en-US" sz="32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动态</a:t>
            </a:r>
          </a:p>
        </p:txBody>
      </p:sp>
      <p:sp>
        <p:nvSpPr>
          <p:cNvPr id="6" name="Lead" descr="Lead">
            <a:extLst>
              <a:ext uri="{FF2B5EF4-FFF2-40B4-BE49-F238E27FC236}">
                <a16:creationId xmlns:a16="http://schemas.microsoft.com/office/drawing/2014/main" id="{5FD3BD44-3FE2-89DB-0C35-E5AF9A637F12}"/>
              </a:ext>
            </a:extLst>
          </p:cNvPr>
          <p:cNvSpPr txBox="1"/>
          <p:nvPr/>
        </p:nvSpPr>
        <p:spPr>
          <a:xfrm>
            <a:off x="812800" y="1777999"/>
            <a:ext cx="10566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3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集中查看官方发布，保留来源与发布日期。</a:t>
            </a:r>
          </a:p>
        </p:txBody>
      </p:sp>
      <p:sp>
        <p:nvSpPr>
          <p:cNvPr id="7" name="OpenAI" descr="OpenAI">
            <a:extLst>
              <a:ext uri="{FF2B5EF4-FFF2-40B4-BE49-F238E27FC236}">
                <a16:creationId xmlns:a16="http://schemas.microsoft.com/office/drawing/2014/main" id="{7FFECFCF-46A2-6B7F-086F-0DCE9FDF5BD3}"/>
              </a:ext>
            </a:extLst>
          </p:cNvPr>
          <p:cNvSpPr txBox="1"/>
          <p:nvPr/>
        </p:nvSpPr>
        <p:spPr>
          <a:xfrm>
            <a:off x="812800" y="2832099"/>
            <a:ext cx="533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3000" b="1">
                <a:solidFill>
                  <a:srgbClr val="B13F2B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OpenAI</a:t>
            </a:r>
            <a:endParaRPr lang="zh-CN" altLang="en-US" sz="3000" b="1">
              <a:solidFill>
                <a:srgbClr val="B13F2B"/>
              </a:solidFill>
              <a:latin typeface="Arial" panose="020B060402020202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8" name="OpenAI details" descr="OpenAI details">
            <a:extLst>
              <a:ext uri="{FF2B5EF4-FFF2-40B4-BE49-F238E27FC236}">
                <a16:creationId xmlns:a16="http://schemas.microsoft.com/office/drawing/2014/main" id="{CCADFC32-88F2-E3D5-41EA-C61087F3C90A}"/>
              </a:ext>
            </a:extLst>
          </p:cNvPr>
          <p:cNvSpPr txBox="1"/>
          <p:nvPr/>
        </p:nvSpPr>
        <p:spPr>
          <a:xfrm>
            <a:off x="812800" y="3517899"/>
            <a:ext cx="5334000" cy="520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模型与产品更新</a:t>
            </a:r>
          </a:p>
        </p:txBody>
      </p:sp>
      <p:sp>
        <p:nvSpPr>
          <p:cNvPr id="9" name="Codex" descr="Codex">
            <a:extLst>
              <a:ext uri="{FF2B5EF4-FFF2-40B4-BE49-F238E27FC236}">
                <a16:creationId xmlns:a16="http://schemas.microsoft.com/office/drawing/2014/main" id="{EF4C7661-CA2A-AEFD-269B-AA7AE8A1E09B}"/>
              </a:ext>
            </a:extLst>
          </p:cNvPr>
          <p:cNvSpPr txBox="1"/>
          <p:nvPr/>
        </p:nvSpPr>
        <p:spPr>
          <a:xfrm>
            <a:off x="812800" y="4495799"/>
            <a:ext cx="5334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3000" b="1">
                <a:solidFill>
                  <a:srgbClr val="B13F2B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Codex</a:t>
            </a:r>
            <a:endParaRPr lang="zh-CN" altLang="en-US" sz="3000" b="1">
              <a:solidFill>
                <a:srgbClr val="B13F2B"/>
              </a:solidFill>
              <a:latin typeface="Arial" panose="020B060402020202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10" name="Codex details" descr="Codex details">
            <a:extLst>
              <a:ext uri="{FF2B5EF4-FFF2-40B4-BE49-F238E27FC236}">
                <a16:creationId xmlns:a16="http://schemas.microsoft.com/office/drawing/2014/main" id="{52A14699-FD76-8963-042B-39FCAD34A538}"/>
              </a:ext>
            </a:extLst>
          </p:cNvPr>
          <p:cNvSpPr txBox="1"/>
          <p:nvPr/>
        </p:nvSpPr>
        <p:spPr>
          <a:xfrm>
            <a:off x="812800" y="5181599"/>
            <a:ext cx="5334000" cy="520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工具与使用方式更新</a:t>
            </a:r>
          </a:p>
        </p:txBody>
      </p:sp>
      <p:sp>
        <p:nvSpPr>
          <p:cNvPr id="11" name="Claude Code" descr="Claude Code">
            <a:extLst>
              <a:ext uri="{FF2B5EF4-FFF2-40B4-BE49-F238E27FC236}">
                <a16:creationId xmlns:a16="http://schemas.microsoft.com/office/drawing/2014/main" id="{D7DA3AD4-582F-7970-C660-0FE997D8FF6E}"/>
              </a:ext>
            </a:extLst>
          </p:cNvPr>
          <p:cNvSpPr txBox="1"/>
          <p:nvPr/>
        </p:nvSpPr>
        <p:spPr>
          <a:xfrm>
            <a:off x="6667500" y="2832099"/>
            <a:ext cx="47117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3000" b="1">
                <a:solidFill>
                  <a:srgbClr val="B13F2B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Claude Code</a:t>
            </a:r>
            <a:endParaRPr lang="zh-CN" altLang="en-US" sz="3000" b="1">
              <a:solidFill>
                <a:srgbClr val="B13F2B"/>
              </a:solidFill>
              <a:latin typeface="Arial" panose="020B060402020202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12" name="Claude details" descr="Claude details">
            <a:extLst>
              <a:ext uri="{FF2B5EF4-FFF2-40B4-BE49-F238E27FC236}">
                <a16:creationId xmlns:a16="http://schemas.microsoft.com/office/drawing/2014/main" id="{D2F08D86-1DA0-E680-AB77-C562DE09EF3C}"/>
              </a:ext>
            </a:extLst>
          </p:cNvPr>
          <p:cNvSpPr txBox="1"/>
          <p:nvPr/>
        </p:nvSpPr>
        <p:spPr>
          <a:xfrm>
            <a:off x="6667500" y="3517899"/>
            <a:ext cx="4711700" cy="520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开发工具动态</a:t>
            </a:r>
          </a:p>
        </p:txBody>
      </p:sp>
      <p:sp>
        <p:nvSpPr>
          <p:cNvPr id="13" name="DeepSeek" descr="DeepSeek">
            <a:extLst>
              <a:ext uri="{FF2B5EF4-FFF2-40B4-BE49-F238E27FC236}">
                <a16:creationId xmlns:a16="http://schemas.microsoft.com/office/drawing/2014/main" id="{605303E5-5BB2-2F55-F414-5F98359CC2E7}"/>
              </a:ext>
            </a:extLst>
          </p:cNvPr>
          <p:cNvSpPr txBox="1"/>
          <p:nvPr/>
        </p:nvSpPr>
        <p:spPr>
          <a:xfrm>
            <a:off x="6667500" y="4495799"/>
            <a:ext cx="47117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3000" b="1">
                <a:solidFill>
                  <a:srgbClr val="B13F2B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DeepSeek</a:t>
            </a:r>
            <a:endParaRPr lang="zh-CN" altLang="en-US" sz="3000" b="1">
              <a:solidFill>
                <a:srgbClr val="B13F2B"/>
              </a:solidFill>
              <a:latin typeface="Arial" panose="020B060402020202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14" name="DeepSeek details" descr="DeepSeek details">
            <a:extLst>
              <a:ext uri="{FF2B5EF4-FFF2-40B4-BE49-F238E27FC236}">
                <a16:creationId xmlns:a16="http://schemas.microsoft.com/office/drawing/2014/main" id="{8440264F-A805-EC35-4845-2CEFF835AFC8}"/>
              </a:ext>
            </a:extLst>
          </p:cNvPr>
          <p:cNvSpPr txBox="1"/>
          <p:nvPr/>
        </p:nvSpPr>
        <p:spPr>
          <a:xfrm>
            <a:off x="6667500" y="5181599"/>
            <a:ext cx="4711700" cy="520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模型与开发生态动态</a:t>
            </a:r>
          </a:p>
        </p:txBody>
      </p:sp>
      <p:sp>
        <p:nvSpPr>
          <p:cNvPr id="15" name="News qualification" descr="News qualification">
            <a:extLst>
              <a:ext uri="{FF2B5EF4-FFF2-40B4-BE49-F238E27FC236}">
                <a16:creationId xmlns:a16="http://schemas.microsoft.com/office/drawing/2014/main" id="{A89301C9-AA8D-6136-9614-2F1801DF8B9D}"/>
              </a:ext>
            </a:extLst>
          </p:cNvPr>
          <p:cNvSpPr txBox="1"/>
          <p:nvPr/>
        </p:nvSpPr>
        <p:spPr>
          <a:xfrm>
            <a:off x="812800" y="6108699"/>
            <a:ext cx="10566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预发布版本与无日期更新分别标注，原文链接随条目保留。</a:t>
            </a:r>
          </a:p>
        </p:txBody>
      </p:sp>
    </p:spTree>
    <p:extLst>
      <p:ext uri="{BB962C8B-B14F-4D97-AF65-F5344CB8AC3E}">
        <p14:creationId xmlns:p14="http://schemas.microsoft.com/office/powerpoint/2010/main" val="3758871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kills Morning Brief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arm paper background" descr="暖白色纸纹背景">
            <a:extLst>
              <a:ext uri="{FF2B5EF4-FFF2-40B4-BE49-F238E27FC236}">
                <a16:creationId xmlns:a16="http://schemas.microsoft.com/office/drawing/2014/main" id="{59B65696-BCA5-0FE8-361E-5C0333EDB0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age number" descr="Page number">
            <a:extLst>
              <a:ext uri="{FF2B5EF4-FFF2-40B4-BE49-F238E27FC236}">
                <a16:creationId xmlns:a16="http://schemas.microsoft.com/office/drawing/2014/main" id="{8BF5A089-C4DD-C109-D76A-C6E928C72FEA}"/>
              </a:ext>
            </a:extLst>
          </p:cNvPr>
          <p:cNvSpPr txBox="1"/>
          <p:nvPr/>
        </p:nvSpPr>
        <p:spPr>
          <a:xfrm>
            <a:off x="10985500" y="495299"/>
            <a:ext cx="444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04</a:t>
            </a:r>
            <a:endParaRPr lang="zh-CN" altLang="en-US" sz="2000">
              <a:solidFill>
                <a:srgbClr val="666158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itle" descr="Title">
            <a:extLst>
              <a:ext uri="{FF2B5EF4-FFF2-40B4-BE49-F238E27FC236}">
                <a16:creationId xmlns:a16="http://schemas.microsoft.com/office/drawing/2014/main" id="{7DA97B66-51D4-360C-BD26-BBADE749BD52}"/>
              </a:ext>
            </a:extLst>
          </p:cNvPr>
          <p:cNvSpPr txBox="1"/>
          <p:nvPr/>
        </p:nvSpPr>
        <p:spPr>
          <a:xfrm>
            <a:off x="812800" y="850899"/>
            <a:ext cx="10287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32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tibo</a:t>
            </a:r>
            <a:r>
              <a:rPr lang="zh-CN" altLang="en-US" sz="32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监视：额度刷新与补发</a:t>
            </a:r>
          </a:p>
        </p:txBody>
      </p:sp>
      <p:sp>
        <p:nvSpPr>
          <p:cNvPr id="6" name="Lead" descr="Lead">
            <a:extLst>
              <a:ext uri="{FF2B5EF4-FFF2-40B4-BE49-F238E27FC236}">
                <a16:creationId xmlns:a16="http://schemas.microsoft.com/office/drawing/2014/main" id="{2D56668F-39EA-6B17-FE48-52951FA0F110}"/>
              </a:ext>
            </a:extLst>
          </p:cNvPr>
          <p:cNvSpPr txBox="1"/>
          <p:nvPr/>
        </p:nvSpPr>
        <p:spPr>
          <a:xfrm>
            <a:off x="812800" y="1739899"/>
            <a:ext cx="10566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2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ChatGPT / Codex </a:t>
            </a:r>
            <a:r>
              <a:rPr lang="zh-CN" altLang="en-US" sz="22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额度消息，原帖与官方说明可追溯。</a:t>
            </a:r>
          </a:p>
        </p:txBody>
      </p:sp>
      <p:sp>
        <p:nvSpPr>
          <p:cNvPr id="7" name="Fields heading" descr="Fields heading">
            <a:extLst>
              <a:ext uri="{FF2B5EF4-FFF2-40B4-BE49-F238E27FC236}">
                <a16:creationId xmlns:a16="http://schemas.microsoft.com/office/drawing/2014/main" id="{8E884DCB-637D-4FA6-33B5-AE206BB19FF1}"/>
              </a:ext>
            </a:extLst>
          </p:cNvPr>
          <p:cNvSpPr txBox="1"/>
          <p:nvPr/>
        </p:nvSpPr>
        <p:spPr>
          <a:xfrm>
            <a:off x="812800" y="2628899"/>
            <a:ext cx="5232400" cy="520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6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每条消息都保留</a:t>
            </a:r>
          </a:p>
        </p:txBody>
      </p:sp>
      <p:sp>
        <p:nvSpPr>
          <p:cNvPr id="8" name="Fields" descr="Fields">
            <a:extLst>
              <a:ext uri="{FF2B5EF4-FFF2-40B4-BE49-F238E27FC236}">
                <a16:creationId xmlns:a16="http://schemas.microsoft.com/office/drawing/2014/main" id="{B61BA4D5-5CEB-8822-59B7-0ABB6A2C5A49}"/>
              </a:ext>
            </a:extLst>
          </p:cNvPr>
          <p:cNvSpPr txBox="1"/>
          <p:nvPr/>
        </p:nvSpPr>
        <p:spPr>
          <a:xfrm>
            <a:off x="812800" y="3390899"/>
            <a:ext cx="5283200" cy="187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3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发布与采集时间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3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适用范围、重置机制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3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核验进度与待确认事项</a:t>
            </a:r>
          </a:p>
        </p:txBody>
      </p:sp>
      <p:sp>
        <p:nvSpPr>
          <p:cNvPr id="9" name="Example heading" descr="Example heading">
            <a:extLst>
              <a:ext uri="{FF2B5EF4-FFF2-40B4-BE49-F238E27FC236}">
                <a16:creationId xmlns:a16="http://schemas.microsoft.com/office/drawing/2014/main" id="{FDBED322-8FA5-3581-122F-E2D319C72CDD}"/>
              </a:ext>
            </a:extLst>
          </p:cNvPr>
          <p:cNvSpPr txBox="1"/>
          <p:nvPr/>
        </p:nvSpPr>
        <p:spPr>
          <a:xfrm>
            <a:off x="6667500" y="2628899"/>
            <a:ext cx="4711700" cy="520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6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2026-10-07 </a:t>
            </a:r>
            <a:r>
              <a:rPr lang="zh-CN" altLang="en-US" sz="26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原帖示例</a:t>
            </a:r>
          </a:p>
        </p:txBody>
      </p:sp>
      <p:sp>
        <p:nvSpPr>
          <p:cNvPr id="10" name="Example" descr="Example">
            <a:extLst>
              <a:ext uri="{FF2B5EF4-FFF2-40B4-BE49-F238E27FC236}">
                <a16:creationId xmlns:a16="http://schemas.microsoft.com/office/drawing/2014/main" id="{440DB4FA-E36F-058B-10E7-83677DDC58EF}"/>
              </a:ext>
            </a:extLst>
          </p:cNvPr>
          <p:cNvSpPr txBox="1"/>
          <p:nvPr/>
        </p:nvSpPr>
        <p:spPr>
          <a:xfrm>
            <a:off x="6667500" y="3378199"/>
            <a:ext cx="4711700" cy="214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付费账户的可储存重置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原文状态：正在补发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采集：</a:t>
            </a: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10-08 14:51</a:t>
            </a: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（上海）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确切重置时刻：未提供</a:t>
            </a:r>
          </a:p>
        </p:txBody>
      </p:sp>
      <p:sp>
        <p:nvSpPr>
          <p:cNvPr id="11" name="Limits" descr="Limits">
            <a:extLst>
              <a:ext uri="{FF2B5EF4-FFF2-40B4-BE49-F238E27FC236}">
                <a16:creationId xmlns:a16="http://schemas.microsoft.com/office/drawing/2014/main" id="{9F1D8165-6FAA-2417-4257-1195CE5EAC4E}"/>
              </a:ext>
            </a:extLst>
          </p:cNvPr>
          <p:cNvSpPr txBox="1"/>
          <p:nvPr/>
        </p:nvSpPr>
        <p:spPr>
          <a:xfrm>
            <a:off x="812800" y="5816599"/>
            <a:ext cx="105664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发布日与重置时刻分别记录。完整 </a:t>
            </a:r>
            <a:r>
              <a:rPr lang="en-US" altLang="zh-CN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 </a:t>
            </a:r>
            <a:r>
              <a:rPr lang="zh-CN" altLang="en-US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时间线尚未启用。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具体账户到账，以官方用量页为准。</a:t>
            </a:r>
          </a:p>
        </p:txBody>
      </p:sp>
    </p:spTree>
    <p:extLst>
      <p:ext uri="{BB962C8B-B14F-4D97-AF65-F5344CB8AC3E}">
        <p14:creationId xmlns:p14="http://schemas.microsoft.com/office/powerpoint/2010/main" val="346278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kills Morning Brief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arm paper background" descr="暖白色纸纹背景">
            <a:extLst>
              <a:ext uri="{FF2B5EF4-FFF2-40B4-BE49-F238E27FC236}">
                <a16:creationId xmlns:a16="http://schemas.microsoft.com/office/drawing/2014/main" id="{31862D05-57EC-ABF3-3EAE-163D507C46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age number" descr="Page number">
            <a:extLst>
              <a:ext uri="{FF2B5EF4-FFF2-40B4-BE49-F238E27FC236}">
                <a16:creationId xmlns:a16="http://schemas.microsoft.com/office/drawing/2014/main" id="{32F07153-189C-16C4-182E-A09BFFC8412F}"/>
              </a:ext>
            </a:extLst>
          </p:cNvPr>
          <p:cNvSpPr txBox="1"/>
          <p:nvPr/>
        </p:nvSpPr>
        <p:spPr>
          <a:xfrm>
            <a:off x="10985500" y="495299"/>
            <a:ext cx="444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05</a:t>
            </a:r>
            <a:endParaRPr lang="zh-CN" altLang="en-US" sz="2000">
              <a:solidFill>
                <a:srgbClr val="666158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itle" descr="Title">
            <a:extLst>
              <a:ext uri="{FF2B5EF4-FFF2-40B4-BE49-F238E27FC236}">
                <a16:creationId xmlns:a16="http://schemas.microsoft.com/office/drawing/2014/main" id="{2BA64254-BEFF-8387-6E63-D59BF2813A5A}"/>
              </a:ext>
            </a:extLst>
          </p:cNvPr>
          <p:cNvSpPr txBox="1"/>
          <p:nvPr/>
        </p:nvSpPr>
        <p:spPr>
          <a:xfrm>
            <a:off x="812800" y="850899"/>
            <a:ext cx="10287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32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按我推荐与本机运行</a:t>
            </a:r>
          </a:p>
        </p:txBody>
      </p:sp>
      <p:sp>
        <p:nvSpPr>
          <p:cNvPr id="6" name="Personal heading" descr="Personal heading">
            <a:extLst>
              <a:ext uri="{FF2B5EF4-FFF2-40B4-BE49-F238E27FC236}">
                <a16:creationId xmlns:a16="http://schemas.microsoft.com/office/drawing/2014/main" id="{AFF2CF1A-936E-7AF8-940F-745D5B32C696}"/>
              </a:ext>
            </a:extLst>
          </p:cNvPr>
          <p:cNvSpPr txBox="1"/>
          <p:nvPr/>
        </p:nvSpPr>
        <p:spPr>
          <a:xfrm>
            <a:off x="812800" y="2146299"/>
            <a:ext cx="53340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8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个人推荐，可选</a:t>
            </a:r>
          </a:p>
        </p:txBody>
      </p:sp>
      <p:sp>
        <p:nvSpPr>
          <p:cNvPr id="7" name="Personal process" descr="Personal process">
            <a:extLst>
              <a:ext uri="{FF2B5EF4-FFF2-40B4-BE49-F238E27FC236}">
                <a16:creationId xmlns:a16="http://schemas.microsoft.com/office/drawing/2014/main" id="{F44F201D-C463-B577-81D7-6F4ADD27EBA8}"/>
              </a:ext>
            </a:extLst>
          </p:cNvPr>
          <p:cNvSpPr txBox="1"/>
          <p:nvPr/>
        </p:nvSpPr>
        <p:spPr>
          <a:xfrm>
            <a:off x="812800" y="2959099"/>
            <a:ext cx="52959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3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确认 </a:t>
            </a:r>
            <a:r>
              <a:rPr lang="en-US" altLang="zh-CN" sz="23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 </a:t>
            </a:r>
            <a:r>
              <a:rPr lang="zh-CN" altLang="en-US" sz="23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目录或导入清单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3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再选择目标，生成个人增量</a:t>
            </a:r>
          </a:p>
        </p:txBody>
      </p:sp>
      <p:sp>
        <p:nvSpPr>
          <p:cNvPr id="8" name="Agent support" descr="Agent support">
            <a:extLst>
              <a:ext uri="{FF2B5EF4-FFF2-40B4-BE49-F238E27FC236}">
                <a16:creationId xmlns:a16="http://schemas.microsoft.com/office/drawing/2014/main" id="{A48816FB-6457-6687-553B-D05ACA4C82E9}"/>
              </a:ext>
            </a:extLst>
          </p:cNvPr>
          <p:cNvSpPr txBox="1"/>
          <p:nvPr/>
        </p:nvSpPr>
        <p:spPr>
          <a:xfrm>
            <a:off x="812800" y="4635499"/>
            <a:ext cx="5295900" cy="160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Codex</a:t>
            </a: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Claude Code</a:t>
            </a: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Cursor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DeepSeek / Deep Code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也支持其他 </a:t>
            </a: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endParaRPr lang="zh-CN" altLang="en-US" sz="2200">
              <a:solidFill>
                <a:srgbClr val="22211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Schedule heading" descr="Schedule heading">
            <a:extLst>
              <a:ext uri="{FF2B5EF4-FFF2-40B4-BE49-F238E27FC236}">
                <a16:creationId xmlns:a16="http://schemas.microsoft.com/office/drawing/2014/main" id="{D6AE4BC5-81EF-A526-5228-8A495E5DC31E}"/>
              </a:ext>
            </a:extLst>
          </p:cNvPr>
          <p:cNvSpPr txBox="1"/>
          <p:nvPr/>
        </p:nvSpPr>
        <p:spPr>
          <a:xfrm>
            <a:off x="6794500" y="2146299"/>
            <a:ext cx="4584700" cy="58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8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开机并登录后监测</a:t>
            </a:r>
          </a:p>
        </p:txBody>
      </p:sp>
      <p:sp>
        <p:nvSpPr>
          <p:cNvPr id="10" name="Morning time" descr="Morning time">
            <a:extLst>
              <a:ext uri="{FF2B5EF4-FFF2-40B4-BE49-F238E27FC236}">
                <a16:creationId xmlns:a16="http://schemas.microsoft.com/office/drawing/2014/main" id="{17ABE59E-CB26-1EE6-0952-F96C78200E04}"/>
              </a:ext>
            </a:extLst>
          </p:cNvPr>
          <p:cNvSpPr txBox="1"/>
          <p:nvPr/>
        </p:nvSpPr>
        <p:spPr>
          <a:xfrm>
            <a:off x="6794500" y="2933699"/>
            <a:ext cx="45847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4000" b="1">
                <a:solidFill>
                  <a:srgbClr val="22211D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08:30</a:t>
            </a:r>
            <a:endParaRPr lang="zh-CN" altLang="en-US" sz="4000" b="1">
              <a:solidFill>
                <a:srgbClr val="22211D"/>
              </a:solidFill>
              <a:latin typeface="Arial" panose="020B060402020202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11" name="Morning content" descr="Morning content">
            <a:extLst>
              <a:ext uri="{FF2B5EF4-FFF2-40B4-BE49-F238E27FC236}">
                <a16:creationId xmlns:a16="http://schemas.microsoft.com/office/drawing/2014/main" id="{B3E046E7-9AAD-6D72-A7C1-9DBCC0092E76}"/>
              </a:ext>
            </a:extLst>
          </p:cNvPr>
          <p:cNvSpPr txBox="1"/>
          <p:nvPr/>
        </p:nvSpPr>
        <p:spPr>
          <a:xfrm>
            <a:off x="6794500" y="3644899"/>
            <a:ext cx="4584700" cy="977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Skills </a:t>
            </a: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 </a:t>
            </a: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 </a:t>
            </a: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资讯，同时核对 </a:t>
            </a: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tibo</a:t>
            </a:r>
            <a:endParaRPr lang="zh-CN" altLang="en-US" sz="2200">
              <a:solidFill>
                <a:srgbClr val="22211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Evening time" descr="Evening time">
            <a:extLst>
              <a:ext uri="{FF2B5EF4-FFF2-40B4-BE49-F238E27FC236}">
                <a16:creationId xmlns:a16="http://schemas.microsoft.com/office/drawing/2014/main" id="{76E27661-CE31-72F1-9AFB-A039C0CEE42C}"/>
              </a:ext>
            </a:extLst>
          </p:cNvPr>
          <p:cNvSpPr txBox="1"/>
          <p:nvPr/>
        </p:nvSpPr>
        <p:spPr>
          <a:xfrm>
            <a:off x="6794500" y="4749799"/>
            <a:ext cx="45847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4000" b="1">
                <a:solidFill>
                  <a:srgbClr val="22211D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20:30</a:t>
            </a:r>
            <a:endParaRPr lang="zh-CN" altLang="en-US" sz="4000" b="1">
              <a:solidFill>
                <a:srgbClr val="22211D"/>
              </a:solidFill>
              <a:latin typeface="Arial" panose="020B060402020202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13" name="Evening content" descr="Evening content">
            <a:extLst>
              <a:ext uri="{FF2B5EF4-FFF2-40B4-BE49-F238E27FC236}">
                <a16:creationId xmlns:a16="http://schemas.microsoft.com/office/drawing/2014/main" id="{6FB53698-1D54-983F-6335-7D9730558D9F}"/>
              </a:ext>
            </a:extLst>
          </p:cNvPr>
          <p:cNvSpPr txBox="1"/>
          <p:nvPr/>
        </p:nvSpPr>
        <p:spPr>
          <a:xfrm>
            <a:off x="6794500" y="5460999"/>
            <a:ext cx="45847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仅核对 </a:t>
            </a:r>
            <a:r>
              <a:rPr lang="en-US" altLang="zh-CN" sz="2200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tibo</a:t>
            </a:r>
            <a:endParaRPr lang="zh-CN" altLang="en-US" sz="2200">
              <a:solidFill>
                <a:srgbClr val="22211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Runtime qualification" descr="Runtime qualification">
            <a:extLst>
              <a:ext uri="{FF2B5EF4-FFF2-40B4-BE49-F238E27FC236}">
                <a16:creationId xmlns:a16="http://schemas.microsoft.com/office/drawing/2014/main" id="{BC6114CF-E1A7-0A1D-731F-1BB9662B8494}"/>
              </a:ext>
            </a:extLst>
          </p:cNvPr>
          <p:cNvSpPr txBox="1"/>
          <p:nvPr/>
        </p:nvSpPr>
        <p:spPr>
          <a:xfrm>
            <a:off x="812800" y="6400799"/>
            <a:ext cx="10566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本机网页展示更新。配置定时任务后，按上海时间运行。</a:t>
            </a:r>
          </a:p>
        </p:txBody>
      </p:sp>
    </p:spTree>
    <p:extLst>
      <p:ext uri="{BB962C8B-B14F-4D97-AF65-F5344CB8AC3E}">
        <p14:creationId xmlns:p14="http://schemas.microsoft.com/office/powerpoint/2010/main" val="106819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kills Morning Brief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arm paper background" descr="暖白色纸纹背景">
            <a:extLst>
              <a:ext uri="{FF2B5EF4-FFF2-40B4-BE49-F238E27FC236}">
                <a16:creationId xmlns:a16="http://schemas.microsoft.com/office/drawing/2014/main" id="{2D09B805-123F-E5E6-C43C-E7DBC6D0731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age number" descr="Page number">
            <a:extLst>
              <a:ext uri="{FF2B5EF4-FFF2-40B4-BE49-F238E27FC236}">
                <a16:creationId xmlns:a16="http://schemas.microsoft.com/office/drawing/2014/main" id="{6C5A144A-5B23-C9CC-E92A-3893F01DE982}"/>
              </a:ext>
            </a:extLst>
          </p:cNvPr>
          <p:cNvSpPr txBox="1"/>
          <p:nvPr/>
        </p:nvSpPr>
        <p:spPr>
          <a:xfrm>
            <a:off x="10985500" y="495299"/>
            <a:ext cx="4445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0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06</a:t>
            </a:r>
            <a:endParaRPr lang="zh-CN" altLang="en-US" sz="2000">
              <a:solidFill>
                <a:srgbClr val="666158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itle" descr="Title">
            <a:extLst>
              <a:ext uri="{FF2B5EF4-FFF2-40B4-BE49-F238E27FC236}">
                <a16:creationId xmlns:a16="http://schemas.microsoft.com/office/drawing/2014/main" id="{3329B584-C511-2B7F-7C91-91FC12BC5DFB}"/>
              </a:ext>
            </a:extLst>
          </p:cNvPr>
          <p:cNvSpPr txBox="1"/>
          <p:nvPr/>
        </p:nvSpPr>
        <p:spPr>
          <a:xfrm>
            <a:off x="812800" y="850899"/>
            <a:ext cx="10287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3200" b="1">
                <a:solidFill>
                  <a:srgbClr val="22211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项目与下载</a:t>
            </a:r>
          </a:p>
        </p:txBody>
      </p:sp>
      <p:sp>
        <p:nvSpPr>
          <p:cNvPr id="6" name="Project link label" descr="Project link label">
            <a:hlinkClick r:id="rId4"/>
            <a:extLst>
              <a:ext uri="{FF2B5EF4-FFF2-40B4-BE49-F238E27FC236}">
                <a16:creationId xmlns:a16="http://schemas.microsoft.com/office/drawing/2014/main" id="{9AFB0F80-5B35-7A57-A986-E57645D27963}"/>
              </a:ext>
            </a:extLst>
          </p:cNvPr>
          <p:cNvSpPr txBox="1"/>
          <p:nvPr/>
        </p:nvSpPr>
        <p:spPr>
          <a:xfrm>
            <a:off x="812800" y="2209799"/>
            <a:ext cx="1056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31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GitHub </a:t>
            </a:r>
            <a:r>
              <a:rPr lang="zh-CN" altLang="en-US" sz="31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项目</a:t>
            </a:r>
          </a:p>
        </p:txBody>
      </p:sp>
      <p:sp>
        <p:nvSpPr>
          <p:cNvPr id="7" name="Project URL" descr="Project URL">
            <a:hlinkClick r:id="rId4"/>
            <a:extLst>
              <a:ext uri="{FF2B5EF4-FFF2-40B4-BE49-F238E27FC236}">
                <a16:creationId xmlns:a16="http://schemas.microsoft.com/office/drawing/2014/main" id="{0563845F-02FB-78F2-DFA0-651DC83EB922}"/>
              </a:ext>
            </a:extLst>
          </p:cNvPr>
          <p:cNvSpPr txBox="1"/>
          <p:nvPr/>
        </p:nvSpPr>
        <p:spPr>
          <a:xfrm>
            <a:off x="812800" y="2946399"/>
            <a:ext cx="105664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200">
                <a:solidFill>
                  <a:srgbClr val="22211D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https://github.com/DeriitoMe/Skills-Morning-Brief</a:t>
            </a:r>
            <a:endParaRPr lang="zh-CN" altLang="en-US" sz="2200">
              <a:solidFill>
                <a:srgbClr val="22211D"/>
              </a:solidFill>
              <a:latin typeface="Arial" panose="020B060402020202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8" name="Releases link label" descr="Releases link label">
            <a:hlinkClick r:id="rId5"/>
            <a:extLst>
              <a:ext uri="{FF2B5EF4-FFF2-40B4-BE49-F238E27FC236}">
                <a16:creationId xmlns:a16="http://schemas.microsoft.com/office/drawing/2014/main" id="{E85B792A-D440-4905-2B66-029B7C08CE82}"/>
              </a:ext>
            </a:extLst>
          </p:cNvPr>
          <p:cNvSpPr txBox="1"/>
          <p:nvPr/>
        </p:nvSpPr>
        <p:spPr>
          <a:xfrm>
            <a:off x="812800" y="3898899"/>
            <a:ext cx="105664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31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Releases </a:t>
            </a:r>
            <a:r>
              <a:rPr lang="zh-CN" altLang="en-US" sz="3100" b="1">
                <a:solidFill>
                  <a:srgbClr val="B13F2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下载</a:t>
            </a:r>
          </a:p>
        </p:txBody>
      </p:sp>
      <p:sp>
        <p:nvSpPr>
          <p:cNvPr id="9" name="Releases URL" descr="Releases URL">
            <a:hlinkClick r:id="rId5"/>
            <a:extLst>
              <a:ext uri="{FF2B5EF4-FFF2-40B4-BE49-F238E27FC236}">
                <a16:creationId xmlns:a16="http://schemas.microsoft.com/office/drawing/2014/main" id="{FAE569CD-979B-785E-4508-807A0BC3934D}"/>
              </a:ext>
            </a:extLst>
          </p:cNvPr>
          <p:cNvSpPr txBox="1"/>
          <p:nvPr/>
        </p:nvSpPr>
        <p:spPr>
          <a:xfrm>
            <a:off x="812800" y="4635499"/>
            <a:ext cx="105664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2200">
                <a:solidFill>
                  <a:srgbClr val="22211D"/>
                </a:solidFill>
                <a:latin typeface="Arial" panose="020B0604020202020204" pitchFamily="34" charset="0"/>
                <a:ea typeface="Microsoft YaHei UI" panose="020B0503020204020204" pitchFamily="34" charset="-122"/>
              </a:rPr>
              <a:t>https://github.com/DeriitoMe/Skills-Morning-Brief/releases</a:t>
            </a:r>
            <a:endParaRPr lang="zh-CN" altLang="en-US" sz="2200">
              <a:solidFill>
                <a:srgbClr val="22211D"/>
              </a:solidFill>
              <a:latin typeface="Arial" panose="020B060402020202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10" name="Run after download" descr="Run after download">
            <a:extLst>
              <a:ext uri="{FF2B5EF4-FFF2-40B4-BE49-F238E27FC236}">
                <a16:creationId xmlns:a16="http://schemas.microsoft.com/office/drawing/2014/main" id="{89618B78-FEEC-3EC2-09DC-81C552FFA7A4}"/>
              </a:ext>
            </a:extLst>
          </p:cNvPr>
          <p:cNvSpPr txBox="1"/>
          <p:nvPr/>
        </p:nvSpPr>
        <p:spPr>
          <a:xfrm>
            <a:off x="812800" y="5994399"/>
            <a:ext cx="105664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2400">
                <a:solidFill>
                  <a:srgbClr val="66615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下载后，在自己的电脑上运行</a:t>
            </a:r>
          </a:p>
        </p:txBody>
      </p:sp>
    </p:spTree>
    <p:extLst>
      <p:ext uri="{BB962C8B-B14F-4D97-AF65-F5344CB8AC3E}">
        <p14:creationId xmlns:p14="http://schemas.microsoft.com/office/powerpoint/2010/main" val="1451408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vt="http://schemas.openxmlformats.org/officeDocument/2006/docPropsVTypes">
  <ns0:TotalTime>0</ns0:TotalTime>
  <ns0:Words>1243</ns0:Words>
  <ns0:Application>Microsoft Office PowerPoint</ns0:Application>
  <ns0:PresentationFormat>自定义</ns0:PresentationFormat>
  <ns0:Paragraphs>90</ns0:Paragraphs>
  <ns0:Slides>6</ns0:Slides>
  <ns0:Notes>6</ns0:Notes>
  <ns0:HiddenSlides>0</ns0:HiddenSlides>
  <ns0:MMClips>0</ns0:MMClips>
  <ns0:ScaleCrop>false</ns0:ScaleCrop>
  <ns0: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ns0:HeadingPairs>
  <ns0:TitlesOfParts>
    <vt:vector size="11" baseType="lpstr">
      <vt:lpstr>Microsoft YaHei UI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Skills Morning Brief 网站介绍</dc:title>
  <dc:creator>Skills Morning Brief</dc:creator>
  <cp:lastModifiedBy>Skills Morning Brief</cp:lastModifiedBy>
  <cp:revision>1</cp:revision>
  <dcterms:created xsi:type="dcterms:W3CDTF">2026-10-08T10:24:59Z</dcterms:created>
  <dcterms:modified xsi:type="dcterms:W3CDTF">2026-10-08T10:24:59Z</dcterms:modified>
  <dc:subject>GitHub AI Skills 与 Agent 资讯</dc:subject>
  <dc:description/>
</cp:coreProperties>
</file>